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Arimo Italics" charset="1" panose="020B060402020209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jpeg" Type="http://schemas.openxmlformats.org/officeDocument/2006/relationships/image"/><Relationship Id="rId11" Target="../media/image28.jpe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3511820"/>
            <a:ext cx="4000500" cy="514350"/>
            <a:chOff x="0" y="0"/>
            <a:chExt cx="5334000" cy="6858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5334000" cy="685800"/>
            </a:xfrm>
            <a:custGeom>
              <a:avLst/>
              <a:gdLst/>
              <a:ahLst/>
              <a:cxnLst/>
              <a:rect r="r" b="b" t="t" l="l"/>
              <a:pathLst>
                <a:path h="6858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88" r="0" b="-13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16084" y="4335666"/>
            <a:ext cx="3455832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ibrary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52626" y="4317206"/>
            <a:ext cx="858274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 </a:t>
            </a:r>
            <a:r>
              <a:rPr lang="en-US" sz="63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/</a:t>
            </a: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Platform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6188" y="5493544"/>
            <a:ext cx="107156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Radically accessible microlearning turning downtime into active self-growth across 160+ countries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3950494"/>
            <a:ext cx="7986712" cy="3386138"/>
            <a:chOff x="0" y="0"/>
            <a:chExt cx="10648950" cy="4514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489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4514850"/>
                  </a:lnTo>
                  <a:lnTo>
                    <a:pt x="0" y="451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1" r="0" b="-12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950494"/>
            <a:ext cx="7986712" cy="3386138"/>
            <a:chOff x="0" y="0"/>
            <a:chExt cx="10648950" cy="4514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489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4514850"/>
                  </a:lnTo>
                  <a:lnTo>
                    <a:pt x="0" y="451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1" r="0" b="-12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8775" y="4460081"/>
            <a:ext cx="70473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Agentic AI Audio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0175" y="5026819"/>
            <a:ext cx="692943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Aibrary transforms non-fiction bestsellers and expert knowledge into engaging 10–15 minute podcast-style audio segments. Designed for busy professionals to learn while commuting or taking breaks.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6988" y="4460081"/>
            <a:ext cx="70473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Science-Backed Pedagogies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58388" y="5026819"/>
            <a:ext cx="692943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Built upon proven educational psychology frameworks, including Vygotsky's </a:t>
            </a:r>
            <a:r>
              <a:rPr lang="en-US" sz="2025" i="true">
                <a:solidFill>
                  <a:srgbClr val="94A3B8"/>
                </a:solidFill>
                <a:latin typeface="Arimo Italics"/>
                <a:ea typeface="Arimo Italics"/>
                <a:cs typeface="Arimo Italics"/>
                <a:sym typeface="Arimo Italics"/>
              </a:rPr>
              <a:t>Zone of Proximal Development</a:t>
            </a: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, shifting passive audio listening into active knowledge mastering.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521994"/>
            <a:ext cx="342900" cy="342900"/>
            <a:chOff x="0" y="0"/>
            <a:chExt cx="45720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3" r="0" b="-208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15488" y="4521994"/>
            <a:ext cx="342900" cy="342900"/>
            <a:chOff x="0" y="0"/>
            <a:chExt cx="457200" cy="457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83" r="0" b="-2083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06488" y="7737293"/>
            <a:ext cx="3158196" cy="2143264"/>
            <a:chOff x="0" y="0"/>
            <a:chExt cx="10610850" cy="7200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1085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610850">
                  <a:moveTo>
                    <a:pt x="1216073" y="0"/>
                  </a:moveTo>
                  <a:lnTo>
                    <a:pt x="9394777" y="0"/>
                  </a:lnTo>
                  <a:cubicBezTo>
                    <a:pt x="10066396" y="0"/>
                    <a:pt x="10610850" y="544455"/>
                    <a:pt x="10610850" y="1216073"/>
                  </a:cubicBezTo>
                  <a:lnTo>
                    <a:pt x="10610850" y="5984827"/>
                  </a:lnTo>
                  <a:cubicBezTo>
                    <a:pt x="10610850" y="6656446"/>
                    <a:pt x="10066396" y="7200900"/>
                    <a:pt x="9394777" y="7200900"/>
                  </a:cubicBezTo>
                  <a:lnTo>
                    <a:pt x="1216073" y="7200900"/>
                  </a:lnTo>
                  <a:cubicBezTo>
                    <a:pt x="544455" y="7200900"/>
                    <a:pt x="0" y="6656446"/>
                    <a:pt x="0" y="5984827"/>
                  </a:cubicBezTo>
                  <a:lnTo>
                    <a:pt x="0" y="1216073"/>
                  </a:lnTo>
                  <a:cubicBezTo>
                    <a:pt x="0" y="544455"/>
                    <a:pt x="544455" y="0"/>
                    <a:pt x="12160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309" r="0" b="-1630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85888" y="2862263"/>
            <a:ext cx="7472362" cy="7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"For You" Smart Feed: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On-demand, hyper-personalized audio streams tailored daily to your career &amp; life goals.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5888" y="3890963"/>
            <a:ext cx="7472362" cy="7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Idea Twin:</a:t>
            </a:r>
            <a:r>
              <a:rPr lang="en-US" sz="2025">
                <a:solidFill>
                  <a:srgbClr val="11CAA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Interactive cognitive mirror allowing you to debate concepts with AI experts in your own voice.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5888" y="4919663"/>
            <a:ext cx="7472362" cy="7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Aibrary 100</a:t>
            </a:r>
            <a:r>
              <a:rPr lang="en-US" sz="2025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2025">
                <a:solidFill>
                  <a:srgbClr val="11CAA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Selected 100 classic books to help you build a thinking framework and find your place in the Al era.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25288" y="6015038"/>
            <a:ext cx="3796371" cy="3028102"/>
            <a:chOff x="0" y="0"/>
            <a:chExt cx="9027863" cy="7200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27863" cy="7200900"/>
            </a:xfrm>
            <a:custGeom>
              <a:avLst/>
              <a:gdLst/>
              <a:ahLst/>
              <a:cxnLst/>
              <a:rect r="r" b="b" t="t" l="l"/>
              <a:pathLst>
                <a:path h="7200900" w="9027863">
                  <a:moveTo>
                    <a:pt x="1011650" y="0"/>
                  </a:moveTo>
                  <a:lnTo>
                    <a:pt x="8016213" y="0"/>
                  </a:lnTo>
                  <a:cubicBezTo>
                    <a:pt x="8284519" y="0"/>
                    <a:pt x="8541837" y="106584"/>
                    <a:pt x="8731558" y="296305"/>
                  </a:cubicBezTo>
                  <a:cubicBezTo>
                    <a:pt x="8921279" y="486026"/>
                    <a:pt x="9027863" y="743343"/>
                    <a:pt x="9027863" y="1011650"/>
                  </a:cubicBezTo>
                  <a:lnTo>
                    <a:pt x="9027863" y="6189251"/>
                  </a:lnTo>
                  <a:cubicBezTo>
                    <a:pt x="9027863" y="6457557"/>
                    <a:pt x="8921279" y="6714874"/>
                    <a:pt x="8731558" y="6904595"/>
                  </a:cubicBezTo>
                  <a:cubicBezTo>
                    <a:pt x="8541837" y="7094316"/>
                    <a:pt x="8284519" y="7200900"/>
                    <a:pt x="8016213" y="7200900"/>
                  </a:cubicBezTo>
                  <a:lnTo>
                    <a:pt x="1011650" y="7200900"/>
                  </a:lnTo>
                  <a:cubicBezTo>
                    <a:pt x="743343" y="7200900"/>
                    <a:pt x="486026" y="7094316"/>
                    <a:pt x="296305" y="6904595"/>
                  </a:cubicBezTo>
                  <a:cubicBezTo>
                    <a:pt x="106584" y="6714874"/>
                    <a:pt x="0" y="6457557"/>
                    <a:pt x="0" y="6189251"/>
                  </a:cubicBezTo>
                  <a:lnTo>
                    <a:pt x="0" y="1011650"/>
                  </a:lnTo>
                  <a:cubicBezTo>
                    <a:pt x="0" y="743343"/>
                    <a:pt x="106584" y="486026"/>
                    <a:pt x="296305" y="296305"/>
                  </a:cubicBezTo>
                  <a:cubicBezTo>
                    <a:pt x="486026" y="106584"/>
                    <a:pt x="743343" y="0"/>
                    <a:pt x="1011650" y="0"/>
                  </a:cubicBezTo>
                  <a:close/>
                </a:path>
              </a:pathLst>
            </a:custGeom>
            <a:blipFill>
              <a:blip r:embed="rId4"/>
              <a:stretch>
                <a:fillRect l="-2225" t="0" r="-2225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654442" y="4157662"/>
            <a:ext cx="4390461" cy="2979523"/>
            <a:chOff x="0" y="0"/>
            <a:chExt cx="10610850" cy="7200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1085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610850">
                  <a:moveTo>
                    <a:pt x="874759" y="0"/>
                  </a:moveTo>
                  <a:lnTo>
                    <a:pt x="9736090" y="0"/>
                  </a:lnTo>
                  <a:cubicBezTo>
                    <a:pt x="9968091" y="0"/>
                    <a:pt x="10190590" y="92162"/>
                    <a:pt x="10354639" y="256211"/>
                  </a:cubicBezTo>
                  <a:cubicBezTo>
                    <a:pt x="10518688" y="420260"/>
                    <a:pt x="10610850" y="642759"/>
                    <a:pt x="10610850" y="874759"/>
                  </a:cubicBezTo>
                  <a:lnTo>
                    <a:pt x="10610850" y="6326141"/>
                  </a:lnTo>
                  <a:cubicBezTo>
                    <a:pt x="10610850" y="6558141"/>
                    <a:pt x="10518688" y="6780640"/>
                    <a:pt x="10354639" y="6944689"/>
                  </a:cubicBezTo>
                  <a:cubicBezTo>
                    <a:pt x="10190590" y="7108738"/>
                    <a:pt x="9968091" y="7200900"/>
                    <a:pt x="9736090" y="7200900"/>
                  </a:cubicBezTo>
                  <a:lnTo>
                    <a:pt x="874759" y="7200900"/>
                  </a:lnTo>
                  <a:cubicBezTo>
                    <a:pt x="642759" y="7200900"/>
                    <a:pt x="420260" y="7108738"/>
                    <a:pt x="256211" y="6944689"/>
                  </a:cubicBezTo>
                  <a:cubicBezTo>
                    <a:pt x="92162" y="6780640"/>
                    <a:pt x="0" y="6558141"/>
                    <a:pt x="0" y="6326141"/>
                  </a:cubicBezTo>
                  <a:lnTo>
                    <a:pt x="0" y="874759"/>
                  </a:lnTo>
                  <a:cubicBezTo>
                    <a:pt x="0" y="642759"/>
                    <a:pt x="92162" y="420260"/>
                    <a:pt x="256211" y="256211"/>
                  </a:cubicBezTo>
                  <a:cubicBezTo>
                    <a:pt x="420260" y="92162"/>
                    <a:pt x="642759" y="0"/>
                    <a:pt x="87475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013" r="0" b="-100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1538" y="2978944"/>
            <a:ext cx="285750" cy="300038"/>
            <a:chOff x="0" y="0"/>
            <a:chExt cx="381000" cy="4000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1538" y="4007644"/>
            <a:ext cx="285750" cy="300038"/>
            <a:chOff x="0" y="0"/>
            <a:chExt cx="381000" cy="4000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1538" y="5036344"/>
            <a:ext cx="285750" cy="300038"/>
            <a:chOff x="0" y="0"/>
            <a:chExt cx="381000" cy="4000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71538" y="709612"/>
            <a:ext cx="545969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Platform Features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56175" y="2265133"/>
            <a:ext cx="3865483" cy="3071248"/>
            <a:chOff x="0" y="0"/>
            <a:chExt cx="10610850" cy="84306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10850" cy="8430655"/>
            </a:xfrm>
            <a:custGeom>
              <a:avLst/>
              <a:gdLst/>
              <a:ahLst/>
              <a:cxnLst/>
              <a:rect r="r" b="b" t="t" l="l"/>
              <a:pathLst>
                <a:path h="8430655" w="10610850">
                  <a:moveTo>
                    <a:pt x="1228879" y="0"/>
                  </a:moveTo>
                  <a:lnTo>
                    <a:pt x="9381971" y="0"/>
                  </a:lnTo>
                  <a:cubicBezTo>
                    <a:pt x="9707890" y="0"/>
                    <a:pt x="10020460" y="129471"/>
                    <a:pt x="10250919" y="359930"/>
                  </a:cubicBezTo>
                  <a:cubicBezTo>
                    <a:pt x="10481379" y="590390"/>
                    <a:pt x="10610850" y="902960"/>
                    <a:pt x="10610850" y="1228879"/>
                  </a:cubicBezTo>
                  <a:lnTo>
                    <a:pt x="10610850" y="7201776"/>
                  </a:lnTo>
                  <a:cubicBezTo>
                    <a:pt x="10610850" y="7527695"/>
                    <a:pt x="10481379" y="7840265"/>
                    <a:pt x="10250919" y="8070724"/>
                  </a:cubicBezTo>
                  <a:cubicBezTo>
                    <a:pt x="10020460" y="8301184"/>
                    <a:pt x="9707890" y="8430655"/>
                    <a:pt x="9381971" y="8430655"/>
                  </a:cubicBezTo>
                  <a:lnTo>
                    <a:pt x="1228879" y="8430655"/>
                  </a:lnTo>
                  <a:cubicBezTo>
                    <a:pt x="902960" y="8430655"/>
                    <a:pt x="590390" y="8301184"/>
                    <a:pt x="359930" y="8070724"/>
                  </a:cubicBezTo>
                  <a:cubicBezTo>
                    <a:pt x="129471" y="7840265"/>
                    <a:pt x="0" y="7527695"/>
                    <a:pt x="0" y="7201776"/>
                  </a:cubicBezTo>
                  <a:lnTo>
                    <a:pt x="0" y="1228879"/>
                  </a:lnTo>
                  <a:cubicBezTo>
                    <a:pt x="0" y="902960"/>
                    <a:pt x="129471" y="590390"/>
                    <a:pt x="359930" y="359930"/>
                  </a:cubicBezTo>
                  <a:cubicBezTo>
                    <a:pt x="590390" y="129471"/>
                    <a:pt x="902960" y="0"/>
                    <a:pt x="122887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746" r="0" b="-274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06488" y="354340"/>
            <a:ext cx="3686370" cy="2574597"/>
            <a:chOff x="0" y="0"/>
            <a:chExt cx="10610850" cy="74107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10850" cy="7410723"/>
            </a:xfrm>
            <a:custGeom>
              <a:avLst/>
              <a:gdLst/>
              <a:ahLst/>
              <a:cxnLst/>
              <a:rect r="r" b="b" t="t" l="l"/>
              <a:pathLst>
                <a:path h="7410723" w="10610850">
                  <a:moveTo>
                    <a:pt x="1288588" y="0"/>
                  </a:moveTo>
                  <a:lnTo>
                    <a:pt x="9322262" y="0"/>
                  </a:lnTo>
                  <a:cubicBezTo>
                    <a:pt x="9664017" y="0"/>
                    <a:pt x="9991774" y="135762"/>
                    <a:pt x="10233431" y="377419"/>
                  </a:cubicBezTo>
                  <a:cubicBezTo>
                    <a:pt x="10475089" y="619076"/>
                    <a:pt x="10610850" y="946833"/>
                    <a:pt x="10610850" y="1288588"/>
                  </a:cubicBezTo>
                  <a:lnTo>
                    <a:pt x="10610850" y="6122135"/>
                  </a:lnTo>
                  <a:cubicBezTo>
                    <a:pt x="10610850" y="6463890"/>
                    <a:pt x="10475089" y="6791647"/>
                    <a:pt x="10233431" y="7033304"/>
                  </a:cubicBezTo>
                  <a:cubicBezTo>
                    <a:pt x="9991774" y="7274961"/>
                    <a:pt x="9664017" y="7410723"/>
                    <a:pt x="9322262" y="7410723"/>
                  </a:cubicBezTo>
                  <a:lnTo>
                    <a:pt x="1288588" y="7410723"/>
                  </a:lnTo>
                  <a:cubicBezTo>
                    <a:pt x="946833" y="7410723"/>
                    <a:pt x="619076" y="7274961"/>
                    <a:pt x="377419" y="7033304"/>
                  </a:cubicBezTo>
                  <a:cubicBezTo>
                    <a:pt x="135762" y="6791647"/>
                    <a:pt x="0" y="6463890"/>
                    <a:pt x="0" y="6122135"/>
                  </a:cubicBezTo>
                  <a:lnTo>
                    <a:pt x="0" y="1288588"/>
                  </a:lnTo>
                  <a:cubicBezTo>
                    <a:pt x="0" y="946833"/>
                    <a:pt x="135762" y="619076"/>
                    <a:pt x="377419" y="377419"/>
                  </a:cubicBezTo>
                  <a:cubicBezTo>
                    <a:pt x="619076" y="135762"/>
                    <a:pt x="946833" y="0"/>
                    <a:pt x="128858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2015" r="0" b="-1201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85888" y="5948363"/>
            <a:ext cx="7472362" cy="7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3 Ways to Learn:</a:t>
            </a:r>
            <a:r>
              <a:rPr lang="en-US" sz="2025">
                <a:solidFill>
                  <a:srgbClr val="11CAA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Flexible options per book—Quick Summaries, Curated Podcasts, and Idea Twin.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71538" y="6015038"/>
            <a:ext cx="285750" cy="300038"/>
            <a:chOff x="0" y="0"/>
            <a:chExt cx="381000" cy="40005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4669312"/>
            <a:ext cx="5229225" cy="2924494"/>
            <a:chOff x="0" y="0"/>
            <a:chExt cx="6972300" cy="3899325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72300" cy="3899325"/>
            </a:xfrm>
            <a:custGeom>
              <a:avLst/>
              <a:gdLst/>
              <a:ahLst/>
              <a:cxnLst/>
              <a:rect r="r" b="b" t="t" l="l"/>
              <a:pathLst>
                <a:path h="3899325" w="6972300">
                  <a:moveTo>
                    <a:pt x="469900" y="0"/>
                  </a:moveTo>
                  <a:lnTo>
                    <a:pt x="6502400" y="0"/>
                  </a:lnTo>
                  <a:cubicBezTo>
                    <a:pt x="6761918" y="0"/>
                    <a:pt x="6972300" y="210381"/>
                    <a:pt x="6972300" y="469900"/>
                  </a:cubicBezTo>
                  <a:lnTo>
                    <a:pt x="6972300" y="3429425"/>
                  </a:lnTo>
                  <a:cubicBezTo>
                    <a:pt x="6972300" y="3688944"/>
                    <a:pt x="6761918" y="3899325"/>
                    <a:pt x="6502400" y="3899325"/>
                  </a:cubicBezTo>
                  <a:lnTo>
                    <a:pt x="469900" y="3899325"/>
                  </a:lnTo>
                  <a:cubicBezTo>
                    <a:pt x="345275" y="3899325"/>
                    <a:pt x="225754" y="3849818"/>
                    <a:pt x="137631" y="3761695"/>
                  </a:cubicBezTo>
                  <a:cubicBezTo>
                    <a:pt x="49507" y="3673571"/>
                    <a:pt x="0" y="3554051"/>
                    <a:pt x="0" y="3429425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748" r="0" b="-1674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9388" y="4669312"/>
            <a:ext cx="5229225" cy="2924494"/>
            <a:chOff x="0" y="0"/>
            <a:chExt cx="6972300" cy="38993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72300" cy="3899325"/>
            </a:xfrm>
            <a:custGeom>
              <a:avLst/>
              <a:gdLst/>
              <a:ahLst/>
              <a:cxnLst/>
              <a:rect r="r" b="b" t="t" l="l"/>
              <a:pathLst>
                <a:path h="3899325" w="6972300">
                  <a:moveTo>
                    <a:pt x="469900" y="0"/>
                  </a:moveTo>
                  <a:lnTo>
                    <a:pt x="6502400" y="0"/>
                  </a:lnTo>
                  <a:cubicBezTo>
                    <a:pt x="6761918" y="0"/>
                    <a:pt x="6972300" y="210381"/>
                    <a:pt x="6972300" y="469900"/>
                  </a:cubicBezTo>
                  <a:lnTo>
                    <a:pt x="6972300" y="3429425"/>
                  </a:lnTo>
                  <a:cubicBezTo>
                    <a:pt x="6972300" y="3688944"/>
                    <a:pt x="6761918" y="3899325"/>
                    <a:pt x="6502400" y="3899325"/>
                  </a:cubicBezTo>
                  <a:lnTo>
                    <a:pt x="469900" y="3899325"/>
                  </a:lnTo>
                  <a:cubicBezTo>
                    <a:pt x="345275" y="3899325"/>
                    <a:pt x="225754" y="3849818"/>
                    <a:pt x="137631" y="3761695"/>
                  </a:cubicBezTo>
                  <a:cubicBezTo>
                    <a:pt x="49507" y="3673571"/>
                    <a:pt x="0" y="3554051"/>
                    <a:pt x="0" y="3429425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567" r="0" b="-1656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7238" y="4669312"/>
            <a:ext cx="5229225" cy="2924494"/>
            <a:chOff x="0" y="0"/>
            <a:chExt cx="6972300" cy="389932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972300" cy="3899325"/>
            </a:xfrm>
            <a:custGeom>
              <a:avLst/>
              <a:gdLst/>
              <a:ahLst/>
              <a:cxnLst/>
              <a:rect r="r" b="b" t="t" l="l"/>
              <a:pathLst>
                <a:path h="3899325" w="6972300">
                  <a:moveTo>
                    <a:pt x="469900" y="0"/>
                  </a:moveTo>
                  <a:lnTo>
                    <a:pt x="6502400" y="0"/>
                  </a:lnTo>
                  <a:cubicBezTo>
                    <a:pt x="6761918" y="0"/>
                    <a:pt x="6972300" y="210381"/>
                    <a:pt x="6972300" y="469900"/>
                  </a:cubicBezTo>
                  <a:lnTo>
                    <a:pt x="6972300" y="3429425"/>
                  </a:lnTo>
                  <a:cubicBezTo>
                    <a:pt x="6972300" y="3688944"/>
                    <a:pt x="6761918" y="3899325"/>
                    <a:pt x="6502400" y="3899325"/>
                  </a:cubicBezTo>
                  <a:lnTo>
                    <a:pt x="469900" y="3899325"/>
                  </a:lnTo>
                  <a:cubicBezTo>
                    <a:pt x="345275" y="3899325"/>
                    <a:pt x="225754" y="3849818"/>
                    <a:pt x="137631" y="3761695"/>
                  </a:cubicBezTo>
                  <a:cubicBezTo>
                    <a:pt x="49507" y="3673571"/>
                    <a:pt x="0" y="3554051"/>
                    <a:pt x="0" y="3429425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567" r="0" b="-1656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3025" y="5288756"/>
            <a:ext cx="8701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Nova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3025" y="5845969"/>
            <a:ext cx="42862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Chief Growth Officer: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Mentors your mindset, habits, resilience, and personal development goals.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0875" y="5288756"/>
            <a:ext cx="93011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Orion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0875" y="5845969"/>
            <a:ext cx="42862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Chief Knowledge Officer: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Curates deep research, facts, and essential takeaways from non-fiction titles.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58725" y="5288756"/>
            <a:ext cx="8701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Atlas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8725" y="5845969"/>
            <a:ext cx="42862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Chief Action Officer:</a:t>
            </a: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Translates insights into daily execution, habit streaks, and accountability plans.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538" y="709612"/>
            <a:ext cx="586161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Growth Team Mentors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000875" y="1028700"/>
            <a:ext cx="4390461" cy="2979523"/>
            <a:chOff x="0" y="0"/>
            <a:chExt cx="10610850" cy="7200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1085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610850">
                  <a:moveTo>
                    <a:pt x="874759" y="0"/>
                  </a:moveTo>
                  <a:lnTo>
                    <a:pt x="9736090" y="0"/>
                  </a:lnTo>
                  <a:cubicBezTo>
                    <a:pt x="9968091" y="0"/>
                    <a:pt x="10190590" y="92162"/>
                    <a:pt x="10354639" y="256211"/>
                  </a:cubicBezTo>
                  <a:cubicBezTo>
                    <a:pt x="10518688" y="420260"/>
                    <a:pt x="10610850" y="642759"/>
                    <a:pt x="10610850" y="874759"/>
                  </a:cubicBezTo>
                  <a:lnTo>
                    <a:pt x="10610850" y="6326141"/>
                  </a:lnTo>
                  <a:cubicBezTo>
                    <a:pt x="10610850" y="6558141"/>
                    <a:pt x="10518688" y="6780640"/>
                    <a:pt x="10354639" y="6944689"/>
                  </a:cubicBezTo>
                  <a:cubicBezTo>
                    <a:pt x="10190590" y="7108738"/>
                    <a:pt x="9968091" y="7200900"/>
                    <a:pt x="9736090" y="7200900"/>
                  </a:cubicBezTo>
                  <a:lnTo>
                    <a:pt x="874759" y="7200900"/>
                  </a:lnTo>
                  <a:cubicBezTo>
                    <a:pt x="642759" y="7200900"/>
                    <a:pt x="420260" y="7108738"/>
                    <a:pt x="256211" y="6944689"/>
                  </a:cubicBezTo>
                  <a:cubicBezTo>
                    <a:pt x="92162" y="6780640"/>
                    <a:pt x="0" y="6558141"/>
                    <a:pt x="0" y="6326141"/>
                  </a:cubicBezTo>
                  <a:lnTo>
                    <a:pt x="0" y="874759"/>
                  </a:lnTo>
                  <a:cubicBezTo>
                    <a:pt x="0" y="642759"/>
                    <a:pt x="92162" y="420260"/>
                    <a:pt x="256211" y="256211"/>
                  </a:cubicBezTo>
                  <a:cubicBezTo>
                    <a:pt x="420260" y="92162"/>
                    <a:pt x="642759" y="0"/>
                    <a:pt x="87475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5994" r="0" b="-599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64182" y="4317206"/>
            <a:ext cx="795962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 / Impact</a:t>
            </a:r>
            <a:r>
              <a:rPr lang="en-US" sz="63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 &amp; </a:t>
            </a: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Metrics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6188" y="5493544"/>
            <a:ext cx="10715625" cy="92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Empowering global learners through the Global Learners' Collective &amp; Ambassador initiatives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12952" y="4479131"/>
            <a:ext cx="3759335" cy="2000250"/>
            <a:chOff x="0" y="0"/>
            <a:chExt cx="5048250" cy="2686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048250" cy="2686050"/>
            </a:xfrm>
            <a:custGeom>
              <a:avLst/>
              <a:gdLst/>
              <a:ahLst/>
              <a:cxnLst/>
              <a:rect r="r" b="b" t="t" l="l"/>
              <a:pathLst>
                <a:path h="2686050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2686050"/>
                  </a:lnTo>
                  <a:lnTo>
                    <a:pt x="0" y="2686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5" r="0" b="-165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01188" y="4460081"/>
            <a:ext cx="831103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Driving Global Engagement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60390" y="5057775"/>
            <a:ext cx="7915275" cy="228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In partnership with programs like the </a:t>
            </a:r>
            <a:r>
              <a:rPr lang="en-US" sz="2400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Aspire Institute</a:t>
            </a:r>
            <a:r>
              <a:rPr lang="en-US" sz="24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, Aibrary brings world-class knowledge to first-generation students and leaders worldwide. Interactive features like daily streaks and community challenges keep learners consistently engaged.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13864" y="4843463"/>
            <a:ext cx="295751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5"/>
              </a:lnSpc>
            </a:pPr>
            <a:r>
              <a:rPr lang="en-US" sz="6075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160+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3864" y="5695950"/>
            <a:ext cx="295751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Countries Supported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538" y="709612"/>
            <a:ext cx="1737217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Impact &amp; Reach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31292" y="4317206"/>
            <a:ext cx="902540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 </a:t>
            </a:r>
            <a:r>
              <a:rPr lang="en-US" sz="63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/ </a:t>
            </a:r>
            <a:r>
              <a:rPr lang="en-US" sz="6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Feature Suggestion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86188" y="5493544"/>
            <a:ext cx="10715625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Progressive Matrix: Elevating reader decision-making and content preview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7550" y="728662"/>
            <a:ext cx="3798913" cy="714375"/>
            <a:chOff x="0" y="0"/>
            <a:chExt cx="5065217" cy="952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065268" cy="952500"/>
            </a:xfrm>
            <a:custGeom>
              <a:avLst/>
              <a:gdLst/>
              <a:ahLst/>
              <a:cxnLst/>
              <a:rect r="r" b="b" t="t" l="l"/>
              <a:pathLst>
                <a:path h="952500" w="5065268">
                  <a:moveTo>
                    <a:pt x="0" y="0"/>
                  </a:moveTo>
                  <a:lnTo>
                    <a:pt x="5065268" y="0"/>
                  </a:lnTo>
                  <a:lnTo>
                    <a:pt x="5065268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29" r="1" b="-173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1538" y="3021806"/>
            <a:ext cx="8058150" cy="5429250"/>
            <a:chOff x="0" y="0"/>
            <a:chExt cx="10744200" cy="7239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442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744200">
                  <a:moveTo>
                    <a:pt x="0" y="0"/>
                  </a:moveTo>
                  <a:lnTo>
                    <a:pt x="10744200" y="0"/>
                  </a:lnTo>
                  <a:lnTo>
                    <a:pt x="107442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" r="0" b="-4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530262" y="3021806"/>
            <a:ext cx="3886200" cy="2419941"/>
            <a:chOff x="0" y="0"/>
            <a:chExt cx="5181600" cy="322658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181600" cy="3226562"/>
            </a:xfrm>
            <a:custGeom>
              <a:avLst/>
              <a:gdLst/>
              <a:ahLst/>
              <a:cxnLst/>
              <a:rect r="r" b="b" t="t" l="l"/>
              <a:pathLst>
                <a:path h="322656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226562"/>
                  </a:lnTo>
                  <a:lnTo>
                    <a:pt x="0" y="3226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58312" y="3021806"/>
            <a:ext cx="3886200" cy="2419941"/>
            <a:chOff x="0" y="0"/>
            <a:chExt cx="5181600" cy="322658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181600" cy="3226562"/>
            </a:xfrm>
            <a:custGeom>
              <a:avLst/>
              <a:gdLst/>
              <a:ahLst/>
              <a:cxnLst/>
              <a:rect r="r" b="b" t="t" l="l"/>
              <a:pathLst>
                <a:path h="322656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226562"/>
                  </a:lnTo>
                  <a:lnTo>
                    <a:pt x="0" y="3226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58312" y="5727497"/>
            <a:ext cx="3886200" cy="2334216"/>
            <a:chOff x="0" y="0"/>
            <a:chExt cx="5181600" cy="3112287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181600" cy="3112262"/>
            </a:xfrm>
            <a:custGeom>
              <a:avLst/>
              <a:gdLst/>
              <a:ahLst/>
              <a:cxnLst/>
              <a:rect r="r" b="b" t="t" l="l"/>
              <a:pathLst>
                <a:path h="311226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112262"/>
                  </a:lnTo>
                  <a:lnTo>
                    <a:pt x="0" y="3112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2" r="0" b="-31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30262" y="5727497"/>
            <a:ext cx="3886200" cy="2334216"/>
            <a:chOff x="0" y="0"/>
            <a:chExt cx="5181600" cy="3112287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181600" cy="3112262"/>
            </a:xfrm>
            <a:custGeom>
              <a:avLst/>
              <a:gdLst/>
              <a:ahLst/>
              <a:cxnLst/>
              <a:rect r="r" b="b" t="t" l="l"/>
              <a:pathLst>
                <a:path h="3112262" w="5181600">
                  <a:moveTo>
                    <a:pt x="0" y="0"/>
                  </a:moveTo>
                  <a:lnTo>
                    <a:pt x="5181600" y="0"/>
                  </a:lnTo>
                  <a:lnTo>
                    <a:pt x="5181600" y="3112262"/>
                  </a:lnTo>
                  <a:lnTo>
                    <a:pt x="0" y="3112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2" r="0" b="-31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71538" y="738188"/>
            <a:ext cx="1338331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Progressive Matrix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699674" y="985838"/>
            <a:ext cx="228600" cy="200025"/>
            <a:chOff x="0" y="0"/>
            <a:chExt cx="304800" cy="2667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125" t="0" r="-312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71538" y="3036094"/>
            <a:ext cx="8129588" cy="5400675"/>
            <a:chOff x="0" y="0"/>
            <a:chExt cx="10839450" cy="7200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3945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839450">
                  <a:moveTo>
                    <a:pt x="317500" y="0"/>
                  </a:moveTo>
                  <a:lnTo>
                    <a:pt x="10521950" y="0"/>
                  </a:lnTo>
                  <a:cubicBezTo>
                    <a:pt x="10697301" y="0"/>
                    <a:pt x="10839450" y="142150"/>
                    <a:pt x="10839450" y="317500"/>
                  </a:cubicBezTo>
                  <a:lnTo>
                    <a:pt x="10839450" y="6883400"/>
                  </a:lnTo>
                  <a:cubicBezTo>
                    <a:pt x="10839450" y="7058751"/>
                    <a:pt x="10697301" y="7200900"/>
                    <a:pt x="10521950" y="7200900"/>
                  </a:cubicBezTo>
                  <a:lnTo>
                    <a:pt x="317500" y="7200900"/>
                  </a:lnTo>
                  <a:cubicBezTo>
                    <a:pt x="142150" y="7200900"/>
                    <a:pt x="0" y="7058751"/>
                    <a:pt x="0" y="68834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-8579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86975" y="3378994"/>
            <a:ext cx="2800350" cy="271462"/>
            <a:chOff x="0" y="0"/>
            <a:chExt cx="3733800" cy="3619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33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51003" r="0" b="-1510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7338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THEMATIC PILLARS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30350" y="3378994"/>
            <a:ext cx="2828925" cy="271462"/>
            <a:chOff x="0" y="0"/>
            <a:chExt cx="377190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1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53054" r="0" b="-1530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7719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DIFFICULTY LEVEL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29825" y="6084684"/>
            <a:ext cx="2857500" cy="271462"/>
            <a:chOff x="0" y="0"/>
            <a:chExt cx="3810000" cy="3619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00" cy="361950"/>
            </a:xfrm>
            <a:custGeom>
              <a:avLst/>
              <a:gdLst/>
              <a:ahLst/>
              <a:cxnLst/>
              <a:rect r="r" b="b" t="t" l="l"/>
              <a:pathLst>
                <a:path h="36195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8100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ACTIONABILITY SCORE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887450" y="3812381"/>
            <a:ext cx="333041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Low (2/5)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173200" y="6084684"/>
            <a:ext cx="2886075" cy="271462"/>
            <a:chOff x="0" y="0"/>
            <a:chExt cx="3848100" cy="3619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48100" cy="361950"/>
            </a:xfrm>
            <a:custGeom>
              <a:avLst/>
              <a:gdLst/>
              <a:ahLst/>
              <a:cxnLst/>
              <a:rect r="r" b="b" t="t" l="l"/>
              <a:pathLst>
                <a:path h="36195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61950"/>
                  </a:lnTo>
                  <a:lnTo>
                    <a:pt x="0" y="3619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57156" r="0" b="-1571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848100" cy="38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CORE TAKEAWAY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715500" y="3407569"/>
            <a:ext cx="257175" cy="214312"/>
            <a:chOff x="0" y="0"/>
            <a:chExt cx="342900" cy="2857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42900" cy="285750"/>
            </a:xfrm>
            <a:custGeom>
              <a:avLst/>
              <a:gdLst/>
              <a:ahLst/>
              <a:cxnLst/>
              <a:rect r="r" b="b" t="t" l="l"/>
              <a:pathLst>
                <a:path h="2857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333" r="0" b="-333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887450" y="3407569"/>
            <a:ext cx="228600" cy="214312"/>
            <a:chOff x="0" y="0"/>
            <a:chExt cx="304800" cy="2857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304800" cy="285750"/>
            </a:xfrm>
            <a:custGeom>
              <a:avLst/>
              <a:gdLst/>
              <a:ahLst/>
              <a:cxnLst/>
              <a:rect r="r" b="b" t="t" l="l"/>
              <a:pathLst>
                <a:path h="2857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95" r="0" b="-195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887450" y="4298156"/>
            <a:ext cx="3171825" cy="55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Highly accessible &amp; practical for all learners.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715500" y="6113259"/>
            <a:ext cx="200025" cy="214312"/>
            <a:chOff x="0" y="0"/>
            <a:chExt cx="266700" cy="2857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667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333" r="0" b="-3333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715500" y="7146722"/>
            <a:ext cx="3171825" cy="55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Immediate, real-world execution tools.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887450" y="6113259"/>
            <a:ext cx="171450" cy="214312"/>
            <a:chOff x="0" y="0"/>
            <a:chExt cx="228600" cy="28575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228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783" t="0" r="-777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887450" y="6817071"/>
            <a:ext cx="3171825" cy="88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157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"Small 1% daily habits compound into massive, transformative long-term growth."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715500" y="4227309"/>
            <a:ext cx="1614488" cy="371475"/>
            <a:chOff x="0" y="0"/>
            <a:chExt cx="2152650" cy="4953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152650" cy="495300"/>
            </a:xfrm>
            <a:custGeom>
              <a:avLst/>
              <a:gdLst/>
              <a:ahLst/>
              <a:cxnLst/>
              <a:rect r="r" b="b" t="t" l="l"/>
              <a:pathLst>
                <a:path h="495300" w="2152650">
                  <a:moveTo>
                    <a:pt x="0" y="0"/>
                  </a:moveTo>
                  <a:lnTo>
                    <a:pt x="2152650" y="0"/>
                  </a:lnTo>
                  <a:lnTo>
                    <a:pt x="21526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923" r="0" b="-192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444288" y="4227309"/>
            <a:ext cx="1271588" cy="371475"/>
            <a:chOff x="0" y="0"/>
            <a:chExt cx="1695450" cy="4953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1695450" cy="495300"/>
            </a:xfrm>
            <a:custGeom>
              <a:avLst/>
              <a:gdLst/>
              <a:ahLst/>
              <a:cxnLst/>
              <a:rect r="r" b="b" t="t" l="l"/>
              <a:pathLst>
                <a:path h="495300" w="1695450">
                  <a:moveTo>
                    <a:pt x="0" y="0"/>
                  </a:moveTo>
                  <a:lnTo>
                    <a:pt x="1695450" y="0"/>
                  </a:lnTo>
                  <a:lnTo>
                    <a:pt x="16954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923" r="0" b="-192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15500" y="4713084"/>
            <a:ext cx="1871662" cy="371475"/>
            <a:chOff x="0" y="0"/>
            <a:chExt cx="2495550" cy="4953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2495550" cy="495300"/>
            </a:xfrm>
            <a:custGeom>
              <a:avLst/>
              <a:gdLst/>
              <a:ahLst/>
              <a:cxnLst/>
              <a:rect r="r" b="b" t="t" l="l"/>
              <a:pathLst>
                <a:path h="49530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923" r="0" b="-192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887450" y="4970259"/>
            <a:ext cx="342900" cy="114300"/>
            <a:chOff x="0" y="0"/>
            <a:chExt cx="457200" cy="152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7200" cy="152400"/>
            </a:xfrm>
            <a:custGeom>
              <a:avLst/>
              <a:gdLst/>
              <a:ahLst/>
              <a:cxnLst/>
              <a:rect r="r" b="b" t="t" l="l"/>
              <a:pathLst>
                <a:path h="152400" w="457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81000" y="0"/>
                  </a:lnTo>
                  <a:cubicBezTo>
                    <a:pt x="423037" y="0"/>
                    <a:pt x="457200" y="34163"/>
                    <a:pt x="457200" y="76200"/>
                  </a:cubicBezTo>
                  <a:cubicBezTo>
                    <a:pt x="457200" y="118237"/>
                    <a:pt x="423037" y="152400"/>
                    <a:pt x="3810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1CAA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344650" y="4970259"/>
            <a:ext cx="342900" cy="114300"/>
            <a:chOff x="0" y="0"/>
            <a:chExt cx="457200" cy="152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7200" cy="152400"/>
            </a:xfrm>
            <a:custGeom>
              <a:avLst/>
              <a:gdLst/>
              <a:ahLst/>
              <a:cxnLst/>
              <a:rect r="r" b="b" t="t" l="l"/>
              <a:pathLst>
                <a:path h="152400" w="457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81000" y="0"/>
                  </a:lnTo>
                  <a:cubicBezTo>
                    <a:pt x="423037" y="0"/>
                    <a:pt x="457200" y="34163"/>
                    <a:pt x="457200" y="76200"/>
                  </a:cubicBezTo>
                  <a:cubicBezTo>
                    <a:pt x="457200" y="118237"/>
                    <a:pt x="423037" y="152400"/>
                    <a:pt x="3810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11CAA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801850" y="4970259"/>
            <a:ext cx="342900" cy="114300"/>
            <a:chOff x="0" y="0"/>
            <a:chExt cx="457200" cy="152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200" cy="152400"/>
            </a:xfrm>
            <a:custGeom>
              <a:avLst/>
              <a:gdLst/>
              <a:ahLst/>
              <a:cxnLst/>
              <a:rect r="r" b="b" t="t" l="l"/>
              <a:pathLst>
                <a:path h="152400" w="457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81000" y="0"/>
                  </a:lnTo>
                  <a:cubicBezTo>
                    <a:pt x="423037" y="0"/>
                    <a:pt x="457200" y="34163"/>
                    <a:pt x="457200" y="76200"/>
                  </a:cubicBezTo>
                  <a:cubicBezTo>
                    <a:pt x="457200" y="118237"/>
                    <a:pt x="423037" y="152400"/>
                    <a:pt x="3810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259050" y="4970259"/>
            <a:ext cx="342900" cy="114300"/>
            <a:chOff x="0" y="0"/>
            <a:chExt cx="457200" cy="152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200" cy="152400"/>
            </a:xfrm>
            <a:custGeom>
              <a:avLst/>
              <a:gdLst/>
              <a:ahLst/>
              <a:cxnLst/>
              <a:rect r="r" b="b" t="t" l="l"/>
              <a:pathLst>
                <a:path h="152400" w="457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81000" y="0"/>
                  </a:lnTo>
                  <a:cubicBezTo>
                    <a:pt x="423037" y="0"/>
                    <a:pt x="457200" y="34163"/>
                    <a:pt x="457200" y="76200"/>
                  </a:cubicBezTo>
                  <a:cubicBezTo>
                    <a:pt x="457200" y="118237"/>
                    <a:pt x="423037" y="152400"/>
                    <a:pt x="3810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716250" y="4970259"/>
            <a:ext cx="342900" cy="114300"/>
            <a:chOff x="0" y="0"/>
            <a:chExt cx="457200" cy="152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7200" cy="152400"/>
            </a:xfrm>
            <a:custGeom>
              <a:avLst/>
              <a:gdLst/>
              <a:ahLst/>
              <a:cxnLst/>
              <a:rect r="r" b="b" t="t" l="l"/>
              <a:pathLst>
                <a:path h="152400" w="457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381000" y="0"/>
                  </a:lnTo>
                  <a:cubicBezTo>
                    <a:pt x="423037" y="0"/>
                    <a:pt x="457200" y="34163"/>
                    <a:pt x="457200" y="76200"/>
                  </a:cubicBezTo>
                  <a:cubicBezTo>
                    <a:pt x="457200" y="118237"/>
                    <a:pt x="423037" y="152400"/>
                    <a:pt x="3810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9715500" y="6594272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725" b="true">
                <a:solidFill>
                  <a:srgbClr val="A855F7"/>
                </a:solidFill>
                <a:latin typeface="Arimo Bold"/>
                <a:ea typeface="Arimo Bold"/>
                <a:cs typeface="Arimo Bold"/>
                <a:sym typeface="Arimo Bold"/>
              </a:rPr>
              <a:t>9.5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744200" y="6803822"/>
            <a:ext cx="3286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/ 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3950494"/>
            <a:ext cx="7986712" cy="3386138"/>
            <a:chOff x="0" y="0"/>
            <a:chExt cx="10648950" cy="4514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489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4514850"/>
                  </a:lnTo>
                  <a:lnTo>
                    <a:pt x="0" y="451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1" r="0" b="-12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950494"/>
            <a:ext cx="7986712" cy="3386138"/>
            <a:chOff x="0" y="0"/>
            <a:chExt cx="10648950" cy="4514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48950" cy="4514850"/>
            </a:xfrm>
            <a:custGeom>
              <a:avLst/>
              <a:gdLst/>
              <a:ahLst/>
              <a:cxnLst/>
              <a:rect r="r" b="b" t="t" l="l"/>
              <a:pathLst>
                <a:path h="4514850" w="10648950">
                  <a:moveTo>
                    <a:pt x="0" y="0"/>
                  </a:moveTo>
                  <a:lnTo>
                    <a:pt x="10648950" y="0"/>
                  </a:lnTo>
                  <a:lnTo>
                    <a:pt x="10648950" y="4514850"/>
                  </a:lnTo>
                  <a:lnTo>
                    <a:pt x="0" y="451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1" r="0" b="-12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28775" y="4460081"/>
            <a:ext cx="70473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How It 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0175" y="5026819"/>
            <a:ext cx="692943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Generates a 3x3 visual breakdown highlighting: </a:t>
            </a:r>
            <a:r>
              <a:rPr lang="en-US" sz="2025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Core Argument</a:t>
            </a: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25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Practical Applications</a:t>
            </a: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, and </a:t>
            </a:r>
            <a:r>
              <a:rPr lang="en-US" sz="2025" b="true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Prerequisite Ideas</a:t>
            </a: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. Users can tap matrix cells for 15-second teaser audio clips.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6988" y="4460081"/>
            <a:ext cx="704730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User &amp; Platform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58388" y="5026819"/>
            <a:ext cx="692943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Eliminates decision fatigue for busy listeners, increases completion rates for recommended podcasts, and enhances personalization within the "For You" Smart Feed algorithm.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521994"/>
            <a:ext cx="342900" cy="342900"/>
            <a:chOff x="0" y="0"/>
            <a:chExt cx="45720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3" r="0" b="-208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15488" y="4521994"/>
            <a:ext cx="342900" cy="342900"/>
            <a:chOff x="0" y="0"/>
            <a:chExt cx="457200" cy="457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83" r="0" b="-208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71538" y="709612"/>
            <a:ext cx="1737217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Matrix Mechanics &amp; Value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538" y="5614988"/>
            <a:ext cx="16544925" cy="57150"/>
            <a:chOff x="0" y="0"/>
            <a:chExt cx="22059900" cy="76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59900" cy="76200"/>
            </a:xfrm>
            <a:custGeom>
              <a:avLst/>
              <a:gdLst/>
              <a:ahLst/>
              <a:cxnLst/>
              <a:rect r="r" b="b" t="t" l="l"/>
              <a:pathLst>
                <a:path h="76200" w="22059900">
                  <a:moveTo>
                    <a:pt x="0" y="0"/>
                  </a:moveTo>
                  <a:lnTo>
                    <a:pt x="22059900" y="0"/>
                  </a:lnTo>
                  <a:lnTo>
                    <a:pt x="220599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71538" y="6072188"/>
            <a:ext cx="3639741" cy="1843088"/>
            <a:chOff x="0" y="0"/>
            <a:chExt cx="4852988" cy="2457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852924" cy="2457450"/>
            </a:xfrm>
            <a:custGeom>
              <a:avLst/>
              <a:gdLst/>
              <a:ahLst/>
              <a:cxnLst/>
              <a:rect r="r" b="b" t="t" l="l"/>
              <a:pathLst>
                <a:path h="2457450" w="4852924">
                  <a:moveTo>
                    <a:pt x="0" y="0"/>
                  </a:moveTo>
                  <a:lnTo>
                    <a:pt x="4852924" y="0"/>
                  </a:lnTo>
                  <a:lnTo>
                    <a:pt x="4852924" y="2457450"/>
                  </a:lnTo>
                  <a:lnTo>
                    <a:pt x="0" y="245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5" t="0" r="-24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73189" y="3371850"/>
            <a:ext cx="3639741" cy="1843088"/>
            <a:chOff x="0" y="0"/>
            <a:chExt cx="4852988" cy="24574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852924" cy="2457450"/>
            </a:xfrm>
            <a:custGeom>
              <a:avLst/>
              <a:gdLst/>
              <a:ahLst/>
              <a:cxnLst/>
              <a:rect r="r" b="b" t="t" l="l"/>
              <a:pathLst>
                <a:path h="2457450" w="4852924">
                  <a:moveTo>
                    <a:pt x="0" y="0"/>
                  </a:moveTo>
                  <a:lnTo>
                    <a:pt x="4852924" y="0"/>
                  </a:lnTo>
                  <a:lnTo>
                    <a:pt x="4852924" y="2457450"/>
                  </a:lnTo>
                  <a:lnTo>
                    <a:pt x="0" y="245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5" t="0" r="-24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74841" y="6072188"/>
            <a:ext cx="3639741" cy="1843088"/>
            <a:chOff x="0" y="0"/>
            <a:chExt cx="4852988" cy="24574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852924" cy="2457450"/>
            </a:xfrm>
            <a:custGeom>
              <a:avLst/>
              <a:gdLst/>
              <a:ahLst/>
              <a:cxnLst/>
              <a:rect r="r" b="b" t="t" l="l"/>
              <a:pathLst>
                <a:path h="2457450" w="4852924">
                  <a:moveTo>
                    <a:pt x="0" y="0"/>
                  </a:moveTo>
                  <a:lnTo>
                    <a:pt x="4852924" y="0"/>
                  </a:lnTo>
                  <a:lnTo>
                    <a:pt x="4852924" y="2457450"/>
                  </a:lnTo>
                  <a:lnTo>
                    <a:pt x="0" y="245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5" t="0" r="-24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76493" y="3371850"/>
            <a:ext cx="3639741" cy="1843088"/>
            <a:chOff x="0" y="0"/>
            <a:chExt cx="4852988" cy="24574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852924" cy="2457450"/>
            </a:xfrm>
            <a:custGeom>
              <a:avLst/>
              <a:gdLst/>
              <a:ahLst/>
              <a:cxnLst/>
              <a:rect r="r" b="b" t="t" l="l"/>
              <a:pathLst>
                <a:path h="2457450" w="4852924">
                  <a:moveTo>
                    <a:pt x="0" y="0"/>
                  </a:moveTo>
                  <a:lnTo>
                    <a:pt x="4852924" y="0"/>
                  </a:lnTo>
                  <a:lnTo>
                    <a:pt x="4852924" y="2457450"/>
                  </a:lnTo>
                  <a:lnTo>
                    <a:pt x="0" y="2457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5" t="0" r="-24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35577" y="6296025"/>
            <a:ext cx="331166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Q1 - UX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4425" y="6715125"/>
            <a:ext cx="3153966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Wireframe Progressive Matrix UI and test tap-to-preview audio teasers.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37229" y="3595688"/>
            <a:ext cx="331166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Q2 - Ambassador Beta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16077" y="4014788"/>
            <a:ext cx="3153966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Roll out preview matrix to Aibrary Ambassadors for qualitative feedback.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8881" y="6296025"/>
            <a:ext cx="331166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Q3 - App Rollout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7729" y="6715125"/>
            <a:ext cx="3153966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Integrate matrix view into book detail pages for iOS and Android apps.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40533" y="3595688"/>
            <a:ext cx="331166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Q4 - Smart Feed Sync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19381" y="4014788"/>
            <a:ext cx="3153966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5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Feed user matrix interaction data back into Nova and Orion algorithms.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1538" y="709612"/>
            <a:ext cx="1737217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Feature Roadmap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505666" y="5457825"/>
            <a:ext cx="371475" cy="371475"/>
            <a:chOff x="0" y="0"/>
            <a:chExt cx="495300" cy="495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0B0F19"/>
            </a:solidFill>
            <a:ln w="57150" cap="sq">
              <a:solidFill>
                <a:srgbClr val="11CAA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07327" y="5457825"/>
            <a:ext cx="371475" cy="371475"/>
            <a:chOff x="0" y="0"/>
            <a:chExt cx="495300" cy="495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0B0F19"/>
            </a:solidFill>
            <a:ln w="57150" cap="sq">
              <a:solidFill>
                <a:srgbClr val="11CAA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108979" y="5457825"/>
            <a:ext cx="371475" cy="371475"/>
            <a:chOff x="0" y="0"/>
            <a:chExt cx="495300" cy="495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0B0F19"/>
            </a:solidFill>
            <a:ln w="57150" cap="sq">
              <a:solidFill>
                <a:srgbClr val="11CAA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410631" y="5457825"/>
            <a:ext cx="371475" cy="371475"/>
            <a:chOff x="0" y="0"/>
            <a:chExt cx="495300" cy="495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0B0F19"/>
            </a:solidFill>
            <a:ln w="57150" cap="sq">
              <a:solidFill>
                <a:srgbClr val="11CAA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71974" y="3886200"/>
            <a:ext cx="5144053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b="true" sz="8100">
                <a:solidFill>
                  <a:srgbClr val="11CAA0"/>
                </a:solidFill>
                <a:latin typeface="Arimo Bold"/>
                <a:ea typeface="Arimo Bold"/>
                <a:cs typeface="Arimo Bold"/>
                <a:sym typeface="Arimo Bold"/>
              </a:rPr>
              <a:t>Thankyou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71812" y="5574802"/>
            <a:ext cx="12144375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Global Learner's Collective  Ambassador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71812" y="6461579"/>
            <a:ext cx="12144375" cy="45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Aspire X Aibrary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DAHQTdCGDP8</dc:identifier>
  <dcterms:modified xsi:type="dcterms:W3CDTF">2011-08-01T06:04:30Z</dcterms:modified>
  <cp:revision>1</cp:revision>
  <dc:title>Aibrary Platform Overview &amp; Feature Proposal (1).pptx</dc:title>
</cp:coreProperties>
</file>